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5e3a2d882b4d13" /><Relationship Type="http://schemas.openxmlformats.org/officeDocument/2006/relationships/extended-properties" Target="/docProps/app.xml" Id="R600cfed74a5b47c5" /><Relationship Type="http://schemas.openxmlformats.org/officeDocument/2006/relationships/officeDocument" Target="/ppt/presentation.xml" Id="R581f90c9845941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eff9fe1a104adc"/>
  </p:sldMasterIdLst>
  <p:notesMasterIdLst>
    <p:notesMasterId xmlns:r="http://schemas.openxmlformats.org/officeDocument/2006/relationships" r:id="R7715bff7d37f467f"/>
  </p:notesMasterIdLst>
  <p:sldIdLst>
    <p:sldId xmlns:r="http://schemas.openxmlformats.org/officeDocument/2006/relationships" id="256" r:id="R3760a51658b646fa"/>
    <p:sldId xmlns:r="http://schemas.openxmlformats.org/officeDocument/2006/relationships" id="257" r:id="Rf3afbec912304634"/>
    <p:sldId xmlns:r="http://schemas.openxmlformats.org/officeDocument/2006/relationships" id="258" r:id="R2c101e681c204e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8b7b269d8f48a9" /><Relationship Type="http://schemas.openxmlformats.org/officeDocument/2006/relationships/slideMaster" Target="/ppt/slideMasters/slideMaster1.xml" Id="R0eeff9fe1a104adc" /><Relationship Type="http://schemas.openxmlformats.org/officeDocument/2006/relationships/notesMaster" Target="/ppt/notesMasters/notesMaster1.xml" Id="R7715bff7d37f467f" /><Relationship Type="http://schemas.openxmlformats.org/officeDocument/2006/relationships/presProps" Target="/ppt/presProps.xml" Id="R463a082409e6477d" /><Relationship Type="http://schemas.openxmlformats.org/officeDocument/2006/relationships/tableStyles" Target="/ppt/tableStyles.xml" Id="Rc09c8880fe2f487a" /><Relationship Type="http://schemas.openxmlformats.org/officeDocument/2006/relationships/slide" Target="/ppt/slides/slide1.xml" Id="R3760a51658b646fa" /><Relationship Type="http://schemas.openxmlformats.org/officeDocument/2006/relationships/slide" Target="/ppt/slides/slide2.xml" Id="Rf3afbec912304634" /><Relationship Type="http://schemas.openxmlformats.org/officeDocument/2006/relationships/slide" Target="/ppt/slides/slide3.xml" Id="R2c101e681c204e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278d2207df4f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9f36fb319e4e23" /><Relationship Type="http://schemas.openxmlformats.org/officeDocument/2006/relationships/notesMaster" Target="/ppt/notesMasters/notesMaster1.xml" Id="Rd4c9f6c1f09e49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98ace8c2d44aee" /><Relationship Type="http://schemas.openxmlformats.org/officeDocument/2006/relationships/notesMaster" Target="/ppt/notesMasters/notesMaster1.xml" Id="Rfabb8d59f7ef47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1c916bbb9a4d56" /><Relationship Type="http://schemas.openxmlformats.org/officeDocument/2006/relationships/notesMaster" Target="/ppt/notesMasters/notesMaster1.xml" Id="R4ecb92125d5248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7573838b7749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ed29a31ba241bc" /><Relationship Type="http://schemas.openxmlformats.org/officeDocument/2006/relationships/slideLayout" Target="/ppt/slideLayouts/slideLayout1.xml" Id="R0279ec3149bd42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79ec3149bd42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e6e7d17b34ab1" /><Relationship Type="http://schemas.openxmlformats.org/officeDocument/2006/relationships/notesSlide" Target="/ppt/notesSlides/notesSlide1.xml" Id="R326bd3d0bd774c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b5a96aa714e71" /><Relationship Type="http://schemas.openxmlformats.org/officeDocument/2006/relationships/notesSlide" Target="/ppt/notesSlides/notesSlide2.xml" Id="R1d523b1339844c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1614566274611" /><Relationship Type="http://schemas.openxmlformats.org/officeDocument/2006/relationships/notesSlide" Target="/ppt/notesSlides/notesSlide3.xml" Id="R4812d87948e54a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0C2706F-EB64-4728-A2E3-E3567A9C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47799"/>
                </a:solidFill>
              </a:defRPr>
            </a:pPr>
            <a:r>
              <a:rPr sz="1275" b="1" i="0">
                <a:solidFill>
                  <a:srgbClr val="147799"/>
                </a:solidFill>
              </a:rPr>
              <a:t>SNOOPY HQ JOURNAL · ARTICLE COMPANION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5DEC5EE-9463-4FC2-8939-EEDB8C27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47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082545"/>
                </a:solidFill>
              </a:defRPr>
            </a:pPr>
            <a:r>
              <a:rPr sz="4350" b="1" i="0">
                <a:solidFill>
                  <a:srgbClr val="082545"/>
                </a:solidFill>
              </a:rPr>
              <a:t>One snack, three towns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B6966D8-9DE3-4C90-8DA8-F55A4750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781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40546A"/>
                </a:solidFill>
              </a:defRPr>
            </a:pPr>
            <a:r>
              <a:rPr sz="1950" b="0" i="0">
                <a:solidFill>
                  <a:srgbClr val="40546A"/>
                </a:solidFill>
              </a:rPr>
              <a:t>A short visual guide to Wagga Wagga’s documented Chiko Roll moment — and the limits of the city’s claim.</a:t>
            </a:r>
          </a:p>
        </p:txBody>
      </p:sp>
      <p:sp>
        <p:nvSpPr>
          <p:cNvPr id="4" name="cover-mark">
            <a:extLst xmlns:a="http://schemas.openxmlformats.org/drawingml/2006/main">
              <a:ext uri="{FF2B5EF4-FFF2-40B4-BE49-F238E27FC236}">
                <a16:creationId xmlns:a16="http://schemas.microsoft.com/office/drawing/2014/main" id="{0A9E73AE-1FC3-42C6-96E9-19CBC46A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800" b="1" i="0">
                <a:solidFill>
                  <a:srgbClr val="E86F51"/>
                </a:solidFill>
              </a:defRPr>
            </a:pPr>
            <a:r>
              <a:rPr sz="4800" b="1" i="0">
                <a:solidFill>
                  <a:srgbClr val="E86F51"/>
                </a:solidFill>
              </a:rPr>
              <a:t>1951</a:t>
            </a:r>
          </a:p>
        </p:txBody>
      </p:sp>
      <p:sp>
        <p:nvSpPr>
          <p:cNvPr id="5" name="rule-570">
            <a:extLst xmlns:a="http://schemas.openxmlformats.org/drawingml/2006/main">
              <a:ext uri="{FF2B5EF4-FFF2-40B4-BE49-F238E27FC236}">
                <a16:creationId xmlns:a16="http://schemas.microsoft.com/office/drawing/2014/main" id="{45052913-8EFA-42CD-88E8-6B144DC1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5A3F2A80-F7E8-4B6D-ACFC-80E7D3E8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17284"/>
                </a:solidFill>
              </a:defRPr>
            </a:pPr>
            <a:r>
              <a:rPr sz="1350" b="0" i="0">
                <a:solidFill>
                  <a:srgbClr val="617284"/>
                </a:solidFill>
              </a:rPr>
              <a:t>Based on the article’s cited historical sources</a:t>
            </a:r>
          </a:p>
        </p:txBody>
      </p:sp>
    </p:spTree>
    <p:extLst>
      <p:ext uri="{BB962C8B-B14F-4D97-AF65-F5344CB8AC3E}">
        <p14:creationId xmlns:p14="http://schemas.microsoft.com/office/powerpoint/2010/main" val="71592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ory-title">
            <a:extLst xmlns:a="http://schemas.openxmlformats.org/drawingml/2006/main">
              <a:ext uri="{FF2B5EF4-FFF2-40B4-BE49-F238E27FC236}">
                <a16:creationId xmlns:a16="http://schemas.microsoft.com/office/drawing/2014/main" id="{DC54E0D7-405F-4637-9044-C0DCDFC2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82545"/>
                </a:solidFill>
              </a:defRPr>
            </a:pPr>
            <a:r>
              <a:rPr sz="3000" b="1" i="0">
                <a:solidFill>
                  <a:srgbClr val="082545"/>
                </a:solidFill>
              </a:rPr>
              <a:t>The story is strongest when each place keeps its proper role</a:t>
            </a:r>
          </a:p>
        </p:txBody>
      </p:sp>
      <p:sp>
        <p:nvSpPr>
          <p:cNvPr id="2" name="step-01-number">
            <a:extLst xmlns:a="http://schemas.openxmlformats.org/drawingml/2006/main">
              <a:ext uri="{FF2B5EF4-FFF2-40B4-BE49-F238E27FC236}">
                <a16:creationId xmlns:a16="http://schemas.microsoft.com/office/drawing/2014/main" id="{F21B8FF5-9A49-4FA4-B65A-A700DE56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47799"/>
                </a:solidFill>
              </a:defRPr>
            </a:pPr>
            <a:r>
              <a:rPr sz="2700" b="1" i="0">
                <a:solidFill>
                  <a:srgbClr val="147799"/>
                </a:solidFill>
              </a:rPr>
              <a:t>01</a:t>
            </a:r>
          </a:p>
        </p:txBody>
      </p:sp>
      <p:sp>
        <p:nvSpPr>
          <p:cNvPr id="3" name="step-01-heading">
            <a:extLst xmlns:a="http://schemas.openxmlformats.org/drawingml/2006/main">
              <a:ext uri="{FF2B5EF4-FFF2-40B4-BE49-F238E27FC236}">
                <a16:creationId xmlns:a16="http://schemas.microsoft.com/office/drawing/2014/main" id="{E14AC83C-018D-4208-8D85-A661E492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335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82545"/>
                </a:solidFill>
              </a:defRPr>
            </a:pPr>
            <a:r>
              <a:rPr sz="2025" b="1" i="0">
                <a:solidFill>
                  <a:srgbClr val="082545"/>
                </a:solidFill>
              </a:rPr>
              <a:t>Developed in Victoria</a:t>
            </a:r>
          </a:p>
        </p:txBody>
      </p:sp>
      <p:sp>
        <p:nvSpPr>
          <p:cNvPr id="4" name="step-01-copy">
            <a:extLst xmlns:a="http://schemas.openxmlformats.org/drawingml/2006/main">
              <a:ext uri="{FF2B5EF4-FFF2-40B4-BE49-F238E27FC236}">
                <a16:creationId xmlns:a16="http://schemas.microsoft.com/office/drawing/2014/main" id="{2DD5620E-7A47-4C99-851F-F101F170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3355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0546A"/>
                </a:solidFill>
              </a:defRPr>
            </a:pPr>
            <a:r>
              <a:rPr sz="1500" b="0" i="0">
                <a:solidFill>
                  <a:srgbClr val="40546A"/>
                </a:solidFill>
              </a:rPr>
              <a:t>Frank McEncroe developed a sturdier, one-handed alternative to a chop-suey roll.</a:t>
            </a:r>
          </a:p>
        </p:txBody>
      </p:sp>
      <p:sp>
        <p:nvSpPr>
          <p:cNvPr id="5" name="rule-292">
            <a:extLst xmlns:a="http://schemas.openxmlformats.org/drawingml/2006/main">
              <a:ext uri="{FF2B5EF4-FFF2-40B4-BE49-F238E27FC236}">
                <a16:creationId xmlns:a16="http://schemas.microsoft.com/office/drawing/2014/main" id="{29B051E2-1389-4228-86CB-B33A8686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02-number">
            <a:extLst xmlns:a="http://schemas.openxmlformats.org/drawingml/2006/main">
              <a:ext uri="{FF2B5EF4-FFF2-40B4-BE49-F238E27FC236}">
                <a16:creationId xmlns:a16="http://schemas.microsoft.com/office/drawing/2014/main" id="{534B3323-8D3D-4812-9A53-2241C154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E86F51"/>
                </a:solidFill>
              </a:defRPr>
            </a:pPr>
            <a:r>
              <a:rPr sz="2700" b="1" i="0">
                <a:solidFill>
                  <a:srgbClr val="E86F51"/>
                </a:solidFill>
              </a:rPr>
              <a:t>02</a:t>
            </a:r>
          </a:p>
        </p:txBody>
      </p:sp>
      <p:sp>
        <p:nvSpPr>
          <p:cNvPr id="7" name="step-02-heading">
            <a:extLst xmlns:a="http://schemas.openxmlformats.org/drawingml/2006/main">
              <a:ext uri="{FF2B5EF4-FFF2-40B4-BE49-F238E27FC236}">
                <a16:creationId xmlns:a16="http://schemas.microsoft.com/office/drawing/2014/main" id="{422E5767-DCBA-4AEB-B7D2-9010BFC4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82545"/>
                </a:solidFill>
              </a:defRPr>
            </a:pPr>
            <a:r>
              <a:rPr sz="2025" b="1" i="0">
                <a:solidFill>
                  <a:srgbClr val="082545"/>
                </a:solidFill>
              </a:rPr>
              <a:t>Launched in Wagga</a:t>
            </a:r>
          </a:p>
        </p:txBody>
      </p:sp>
      <p:sp>
        <p:nvSpPr>
          <p:cNvPr id="8" name="step-02-copy">
            <a:extLst xmlns:a="http://schemas.openxmlformats.org/drawingml/2006/main">
              <a:ext uri="{FF2B5EF4-FFF2-40B4-BE49-F238E27FC236}">
                <a16:creationId xmlns:a16="http://schemas.microsoft.com/office/drawing/2014/main" id="{96B48418-5E48-40D3-8102-63CC072E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0546A"/>
                </a:solidFill>
              </a:defRPr>
            </a:pPr>
            <a:r>
              <a:rPr sz="1500" b="0" i="0">
                <a:solidFill>
                  <a:srgbClr val="40546A"/>
                </a:solidFill>
              </a:rPr>
              <a:t>The new roll appeared at the 1951 Wagga Wagga Agricultural Show and was acclaimed there.</a:t>
            </a:r>
          </a:p>
        </p:txBody>
      </p:sp>
      <p:sp>
        <p:nvSpPr>
          <p:cNvPr id="9" name="rule-446">
            <a:extLst xmlns:a="http://schemas.openxmlformats.org/drawingml/2006/main">
              <a:ext uri="{FF2B5EF4-FFF2-40B4-BE49-F238E27FC236}">
                <a16:creationId xmlns:a16="http://schemas.microsoft.com/office/drawing/2014/main" id="{021B2BA4-3062-4BE8-AB6C-FC2D97CC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03-number">
            <a:extLst xmlns:a="http://schemas.openxmlformats.org/drawingml/2006/main">
              <a:ext uri="{FF2B5EF4-FFF2-40B4-BE49-F238E27FC236}">
                <a16:creationId xmlns:a16="http://schemas.microsoft.com/office/drawing/2014/main" id="{34FEE35E-C5BC-42E2-9396-C0703DF4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47799"/>
                </a:solidFill>
              </a:defRPr>
            </a:pPr>
            <a:r>
              <a:rPr sz="2700" b="1" i="0">
                <a:solidFill>
                  <a:srgbClr val="147799"/>
                </a:solidFill>
              </a:rPr>
              <a:t>03</a:t>
            </a:r>
          </a:p>
        </p:txBody>
      </p:sp>
      <p:sp>
        <p:nvSpPr>
          <p:cNvPr id="11" name="step-03-heading">
            <a:extLst xmlns:a="http://schemas.openxmlformats.org/drawingml/2006/main">
              <a:ext uri="{FF2B5EF4-FFF2-40B4-BE49-F238E27FC236}">
                <a16:creationId xmlns:a16="http://schemas.microsoft.com/office/drawing/2014/main" id="{44F7CD9A-C91F-4975-AA0E-0AB88528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82545"/>
                </a:solidFill>
              </a:defRPr>
            </a:pPr>
            <a:r>
              <a:rPr sz="2025" b="1" i="0">
                <a:solidFill>
                  <a:srgbClr val="082545"/>
                </a:solidFill>
              </a:rPr>
              <a:t>Claimed by several places</a:t>
            </a:r>
          </a:p>
        </p:txBody>
      </p:sp>
      <p:sp>
        <p:nvSpPr>
          <p:cNvPr id="12" name="step-03-copy">
            <a:extLst xmlns:a="http://schemas.openxmlformats.org/drawingml/2006/main">
              <a:ext uri="{FF2B5EF4-FFF2-40B4-BE49-F238E27FC236}">
                <a16:creationId xmlns:a16="http://schemas.microsoft.com/office/drawing/2014/main" id="{ACDD5939-F52A-449D-AB08-21253B60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0546A"/>
                </a:solidFill>
              </a:defRPr>
            </a:pPr>
            <a:r>
              <a:rPr sz="1500" b="0" i="0">
                <a:solidFill>
                  <a:srgbClr val="40546A"/>
                </a:solidFill>
              </a:rPr>
              <a:t>Wagga, Bendigo and Bathurst later argued over the snack’s home; its origins remain complex.</a:t>
            </a:r>
          </a:p>
        </p:txBody>
      </p:sp>
    </p:spTree>
    <p:extLst>
      <p:ext uri="{BB962C8B-B14F-4D97-AF65-F5344CB8AC3E}">
        <p14:creationId xmlns:p14="http://schemas.microsoft.com/office/powerpoint/2010/main" val="6413949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5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nclusion-kicker">
            <a:extLst xmlns:a="http://schemas.openxmlformats.org/drawingml/2006/main">
              <a:ext uri="{FF2B5EF4-FFF2-40B4-BE49-F238E27FC236}">
                <a16:creationId xmlns:a16="http://schemas.microsoft.com/office/drawing/2014/main" id="{38A7F18E-9CD3-47A5-8014-664AEA73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ED9EF"/>
                </a:solidFill>
              </a:defRPr>
            </a:pPr>
            <a:r>
              <a:rPr sz="1275" b="1" i="0">
                <a:solidFill>
                  <a:srgbClr val="8ED9EF"/>
                </a:solidFill>
              </a:rPr>
              <a:t>THE DEFENSIBLE CLAIM</a:t>
            </a:r>
          </a:p>
        </p:txBody>
      </p:sp>
      <p:sp>
        <p:nvSpPr>
          <p:cNvPr id="2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36B3F0DB-B1F6-4130-B0E9-8C07CBB8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FFFFFF"/>
                </a:solidFill>
              </a:defRPr>
            </a:pPr>
            <a:r>
              <a:rPr sz="3675" b="1" i="0">
                <a:solidFill>
                  <a:srgbClr val="FFFFFF"/>
                </a:solidFill>
              </a:rPr>
              <a:t>Wagga was the launch stage, not the whole origin story.</a:t>
            </a:r>
          </a:p>
        </p:txBody>
      </p:sp>
      <p:sp>
        <p:nvSpPr>
          <p:cNvPr id="3" name="conclusion-detail">
            <a:extLst xmlns:a="http://schemas.openxmlformats.org/drawingml/2006/main">
              <a:ext uri="{FF2B5EF4-FFF2-40B4-BE49-F238E27FC236}">
                <a16:creationId xmlns:a16="http://schemas.microsoft.com/office/drawing/2014/main" id="{2DADD651-8F03-4D52-93EA-8C54454C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EDAE4"/>
                </a:solidFill>
              </a:defRPr>
            </a:pPr>
            <a:r>
              <a:rPr sz="1800" b="0" i="0">
                <a:solidFill>
                  <a:srgbClr val="CEDAE4"/>
                </a:solidFill>
              </a:rPr>
              <a:t>That narrower claim is more accurate — and more interesting — than repeating a simple birthplace myth.</a:t>
            </a:r>
          </a:p>
        </p:txBody>
      </p:sp>
      <p:sp>
        <p:nvSpPr>
          <p:cNvPr id="4" name="sources-heading">
            <a:extLst xmlns:a="http://schemas.openxmlformats.org/drawingml/2006/main">
              <a:ext uri="{FF2B5EF4-FFF2-40B4-BE49-F238E27FC236}">
                <a16:creationId xmlns:a16="http://schemas.microsoft.com/office/drawing/2014/main" id="{0BB02F8A-122B-47DB-9687-C3705F5E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3716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Sources in the article</a:t>
            </a:r>
          </a:p>
        </p:txBody>
      </p:sp>
      <p:sp>
        <p:nvSpPr>
          <p:cNvPr id="5" name="sources-list">
            <a:extLst xmlns:a="http://schemas.openxmlformats.org/drawingml/2006/main">
              <a:ext uri="{FF2B5EF4-FFF2-40B4-BE49-F238E27FC236}">
                <a16:creationId xmlns:a16="http://schemas.microsoft.com/office/drawing/2014/main" id="{20B59D0B-2F69-4F02-81E3-92BCF94F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38350"/>
            <a:ext cx="304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EDAE4"/>
                </a:solidFill>
              </a:defRPr>
            </a:pPr>
            <a:r>
              <a:rPr sz="1425" b="0" i="0">
                <a:solidFill>
                  <a:srgbClr val="CEDAE4"/>
                </a:solidFill>
              </a:rPr>
              <a:t>Wagga Wagga City Council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CEDAE4"/>
                </a:solidFill>
              </a:defRPr>
            </a:pPr>
            <a:r>
              <a:rPr sz="1425" b="0" i="0">
                <a:solidFill>
                  <a:srgbClr val="CEDAE4"/>
                </a:solidFill>
              </a:rPr>
              <a:t>Australian Dictionary of Biography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CEDAE4"/>
                </a:solidFill>
              </a:defRPr>
            </a:pPr>
            <a:r>
              <a:rPr sz="1425" b="0" i="0">
                <a:solidFill>
                  <a:srgbClr val="CEDAE4"/>
                </a:solidFill>
              </a:rPr>
              <a:t>Chiko — Our Story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CEDAE4"/>
                </a:solidFill>
              </a:defRPr>
            </a:pPr>
            <a:r>
              <a:rPr sz="1425" b="0" i="0">
                <a:solidFill>
                  <a:srgbClr val="CEDAE4"/>
                </a:solidFill>
              </a:rPr>
              <a:t>Museum of the Riverina</a:t>
            </a:r>
          </a:p>
        </p:txBody>
      </p:sp>
      <p:sp>
        <p:nvSpPr>
          <p:cNvPr id="6" name="rule-580">
            <a:extLst xmlns:a="http://schemas.openxmlformats.org/drawingml/2006/main">
              <a:ext uri="{FF2B5EF4-FFF2-40B4-BE49-F238E27FC236}">
                <a16:creationId xmlns:a16="http://schemas.microsoft.com/office/drawing/2014/main" id="{AC9874DB-BA4C-4E96-993F-4B537A72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nclusion-footer">
            <a:extLst xmlns:a="http://schemas.openxmlformats.org/drawingml/2006/main">
              <a:ext uri="{FF2B5EF4-FFF2-40B4-BE49-F238E27FC236}">
                <a16:creationId xmlns:a16="http://schemas.microsoft.com/office/drawing/2014/main" id="{DB4D6CA0-F7D4-49CA-B747-4B1249CD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8ED9EF"/>
                </a:solidFill>
              </a:defRPr>
            </a:pPr>
            <a:r>
              <a:rPr sz="1350" b="0" i="0">
                <a:solidFill>
                  <a:srgbClr val="8ED9EF"/>
                </a:solidFill>
              </a:rPr>
              <a:t>Read the full article for source links and context.</a:t>
            </a:r>
          </a:p>
        </p:txBody>
      </p:sp>
    </p:spTree>
    <p:extLst>
      <p:ext uri="{BB962C8B-B14F-4D97-AF65-F5344CB8AC3E}">
        <p14:creationId xmlns:p14="http://schemas.microsoft.com/office/powerpoint/2010/main" val="9432261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2026-07-26T11:28:23.4030000Z</dcterms:created>
  <dcterms:modified xsi:type="dcterms:W3CDTF">2026-07-26T11:28:23.4030000Z</dcterms:modified>
</coreProperties>
</file>